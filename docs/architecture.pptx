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18f7ef8c474cbe" /><Relationship Type="http://schemas.openxmlformats.org/officeDocument/2006/relationships/extended-properties" Target="/docProps/app.xml" Id="Rd753ab661efe4823" /><Relationship Type="http://schemas.openxmlformats.org/officeDocument/2006/relationships/officeDocument" Target="/ppt/presentation.xml" Id="R0fdba3ee231244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f821e5e3d0412a"/>
  </p:sldMasterIdLst>
  <p:notesMasterIdLst>
    <p:notesMasterId xmlns:r="http://schemas.openxmlformats.org/officeDocument/2006/relationships" r:id="R5777a7b064ef4fd3"/>
  </p:notesMasterIdLst>
  <p:sldIdLst>
    <p:sldId xmlns:r="http://schemas.openxmlformats.org/officeDocument/2006/relationships" id="256" r:id="R2fe5129724954ae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5e26fa0ce94b51" /><Relationship Type="http://schemas.openxmlformats.org/officeDocument/2006/relationships/slideMaster" Target="/ppt/slideMasters/slideMaster1.xml" Id="R2ff821e5e3d0412a" /><Relationship Type="http://schemas.openxmlformats.org/officeDocument/2006/relationships/notesMaster" Target="/ppt/notesMasters/notesMaster1.xml" Id="R5777a7b064ef4fd3" /><Relationship Type="http://schemas.openxmlformats.org/officeDocument/2006/relationships/presProps" Target="/ppt/presProps.xml" Id="R5a1422747d8f464b" /><Relationship Type="http://schemas.openxmlformats.org/officeDocument/2006/relationships/tableStyles" Target="/ppt/tableStyles.xml" Id="Rf960398dc6f54696" /><Relationship Type="http://schemas.openxmlformats.org/officeDocument/2006/relationships/slide" Target="/ppt/slides/slide1.xml" Id="R2fe5129724954a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8f4aa97a03043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668613267f4f69" /><Relationship Type="http://schemas.openxmlformats.org/officeDocument/2006/relationships/notesMaster" Target="/ppt/notesMasters/notesMaster1.xml" Id="Re8efec4847fb48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f95431265348e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d361d64ce84f4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80c944196b4b7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dc65fa8b814b4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0a35c316c54f9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798732bc9f406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273127F-A663-4049-A0E0-200C1909BC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5E7E24C-B827-4DAF-84F2-819297DC435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A8BB9BD-B638-4FDD-9250-45B258AAA4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EB6B954-35A6-4684-A851-650B45D410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7BE8884-F2BE-4338-A8ED-34BA34BA94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0DEDD2B-0B0C-4C66-BDFA-D56617137F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77E9B21-01B5-48C8-A016-E68EC6458F6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D77225C-234D-40C1-B1A8-5F717E270D4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F0998A8-42A6-4725-B440-67594BEAB6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F547039-EF25-447E-B49E-7C189FDAFF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edfd8e03cf453f" /><Relationship Type="http://schemas.openxmlformats.org/officeDocument/2006/relationships/slideLayout" Target="/ppt/slideLayouts/slideLayout1.xml" Id="Rb3155ab88dc34631" /><Relationship Type="http://schemas.openxmlformats.org/officeDocument/2006/relationships/slideLayout" Target="/ppt/slideLayouts/slideLayout2.xml" Id="Rb5626071f0a54c9c" /><Relationship Type="http://schemas.openxmlformats.org/officeDocument/2006/relationships/slideLayout" Target="/ppt/slideLayouts/slideLayout3.xml" Id="R8e3ec7c31fb9436f" /><Relationship Type="http://schemas.openxmlformats.org/officeDocument/2006/relationships/slideLayout" Target="/ppt/slideLayouts/slideLayout4.xml" Id="Rf37884c521964520" /><Relationship Type="http://schemas.openxmlformats.org/officeDocument/2006/relationships/slideLayout" Target="/ppt/slideLayouts/slideLayout5.xml" Id="R887004f441ed49f5" /><Relationship Type="http://schemas.openxmlformats.org/officeDocument/2006/relationships/slideLayout" Target="/ppt/slideLayouts/slideLayout6.xml" Id="Rb2dda675af534d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155ab88dc34631"/>
    <p:sldLayoutId xmlns:r="http://schemas.openxmlformats.org/officeDocument/2006/relationships" id="2147483650" r:id="Rb5626071f0a54c9c"/>
    <p:sldLayoutId xmlns:r="http://schemas.openxmlformats.org/officeDocument/2006/relationships" id="2147483651" r:id="R8e3ec7c31fb9436f"/>
    <p:sldLayoutId xmlns:r="http://schemas.openxmlformats.org/officeDocument/2006/relationships" id="2147483652" r:id="Rf37884c521964520"/>
    <p:sldLayoutId xmlns:r="http://schemas.openxmlformats.org/officeDocument/2006/relationships" id="2147483653" r:id="R887004f441ed49f5"/>
    <p:sldLayoutId xmlns:r="http://schemas.openxmlformats.org/officeDocument/2006/relationships" id="2147483654" r:id="Rb2dda675af534d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6edb0cfad04f85" /><Relationship Type="http://schemas.openxmlformats.org/officeDocument/2006/relationships/notesSlide" Target="/ppt/notesSlides/notesSlide1.xml" Id="R59793f8343f9408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1919F1-C34B-486F-973C-EAC7349D6F76}"/>
              </a:ext>
            </a:extLst>
          </p:cNvPr>
          <p:cNvCxnSpPr>
            <a:stCxn xmlns:a="http://schemas.openxmlformats.org/drawingml/2006/main" id="11" idx="0"/>
            <a:endCxn xmlns:a="http://schemas.openxmlformats.org/drawingml/2006/main" id="4" idx="2"/>
          </p:cNvCxnSpPr>
          <p:nvPr/>
        </p:nvCxnSpPr>
        <p:spPr>
          <a:xfrm xmlns:a="http://schemas.openxmlformats.org/drawingml/2006/main" flipV="1">
            <a:off x="6096000" y="3905250"/>
            <a:ext cx="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76F66"/>
            </a:solidFill>
            <a:prstDash val="solid"/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836AD0-8C18-4E57-AE98-81F9DDB00B4B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9620250" y="3905250"/>
            <a:ext cx="428625" cy="1452563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76F66"/>
            </a:solidFill>
            <a:prstDash val="solid"/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BED333-A06E-4DCF-AEE9-8CF1ADC69C2E}"/>
              </a:ext>
            </a:extLst>
          </p:cNvPr>
          <p:cNvCxnSpPr>
            <a:stCxn xmlns:a="http://schemas.openxmlformats.org/drawingml/2006/main" id="2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>
            <a:off x="6096000" y="1762125"/>
            <a:ext cx="0" cy="7620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76F66"/>
            </a:solidFill>
            <a:prstDash val="solid"/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F3E7C6-18F8-4B67-A881-D508FBE7C769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620000" y="3214688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76F66"/>
            </a:solidFill>
            <a:prstDash val="solid"/>
            <a:tailEnd type="triangle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43525B-5FBB-4E6A-B17E-E1FBAA03A548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667125" y="3214688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76F66"/>
            </a:solidFill>
            <a:prstDash val="dash"/>
            <a:tailEnd type="triangle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ACFD49-03DC-4D3F-856C-4CC7007D6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700">
                <a:solidFill>
                  <a:srgbClr val="263C38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700">
                <a:solidFill>
                  <a:srgbClr val="263C38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700">
                <a:solidFill>
                  <a:srgbClr val="263C38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700">
                <a:solidFill>
                  <a:srgbClr val="263C38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700">
                <a:solidFill>
                  <a:srgbClr val="263C38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700">
                <a:solidFill>
                  <a:srgbClr val="263C38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700">
                <a:solidFill>
                  <a:srgbClr val="263C38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700">
                <a:solidFill>
                  <a:srgbClr val="263C38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700">
                <a:solidFill>
                  <a:srgbClr val="263C38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700">
                <a:solidFill>
                  <a:srgbClr val="263C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ctr">
              <a:defRPr sz="2700">
                <a:solidFill>
                  <a:srgbClr val="263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>
                <a:solidFill>
                  <a:srgbClr val="263C38"/>
                </a:solidFill>
                <a:latin typeface="Noto Sans CJK SC"/>
                <a:ea typeface="Noto Sans CJK SC"/>
                <a:cs typeface="Noto Sans CJK SC"/>
              </a:rPr>
              <a:t>烟叶定量上料系统架构</a:t>
            </a:r>
          </a:p>
        </p:txBody>
      </p:sp>
      <p:sp>
        <p:nvSpPr>
          <p:cNvPr id="2" name="host">
            <a:extLst xmlns:a="http://schemas.openxmlformats.org/drawingml/2006/main">
              <a:ext uri="{FF2B5EF4-FFF2-40B4-BE49-F238E27FC236}">
                <a16:creationId xmlns:a16="http://schemas.microsoft.com/office/drawing/2014/main" id="{6745EE25-B484-42EC-A68E-8BF88DD74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952500"/>
            <a:ext cx="5048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FEB"/>
          </a:solidFill>
          <a:ln xmlns:a="http://schemas.openxmlformats.org/drawingml/2006/main" w="9525">
            <a:solidFill>
              <a:srgbClr val="9FB7B2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>
                <a:solidFill>
                  <a:srgbClr val="183C37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950">
                <a:solidFill>
                  <a:srgbClr val="183C37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950">
                <a:solidFill>
                  <a:srgbClr val="183C37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950">
                <a:solidFill>
                  <a:srgbClr val="183C37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950">
                <a:solidFill>
                  <a:srgbClr val="183C37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950">
                <a:solidFill>
                  <a:srgbClr val="183C37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950">
                <a:solidFill>
                  <a:srgbClr val="183C37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950">
                <a:solidFill>
                  <a:srgbClr val="183C37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950">
                <a:solidFill>
                  <a:srgbClr val="183C37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950">
                <a:solidFill>
                  <a:srgbClr val="183C3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83C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>
                <a:solidFill>
                  <a:srgbClr val="183C37"/>
                </a:solidFill>
                <a:latin typeface="Noto Sans CJK SC"/>
                <a:ea typeface="Noto Sans CJK SC"/>
                <a:cs typeface="Noto Sans CJK SC"/>
              </a:rPr>
              <a:t>主机 Web 中控</a:t>
            </a:r>
          </a:p>
          <a:p xmlns:a="http://schemas.openxmlformats.org/drawingml/2006/main">
            <a:pPr algn="ctr">
              <a:defRPr sz="1950">
                <a:solidFill>
                  <a:srgbClr val="183C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>
                <a:solidFill>
                  <a:srgbClr val="183C37"/>
                </a:solidFill>
                <a:latin typeface="Noto Sans CJK SC"/>
                <a:ea typeface="Noto Sans CJK SC"/>
                <a:cs typeface="Noto Sans CJK SC"/>
              </a:rPr>
              <a:t>开始 / 复位 / 传感器画面</a:t>
            </a:r>
          </a:p>
        </p:txBody>
      </p:sp>
      <p:sp>
        <p:nvSpPr>
          <p:cNvPr id="3" name="vision">
            <a:extLst xmlns:a="http://schemas.openxmlformats.org/drawingml/2006/main">
              <a:ext uri="{FF2B5EF4-FFF2-40B4-BE49-F238E27FC236}">
                <a16:creationId xmlns:a16="http://schemas.microsoft.com/office/drawing/2014/main" id="{24A58CF4-A4A2-43D8-BF44-BBCCCF717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24125"/>
            <a:ext cx="3048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2"/>
          </a:solidFill>
          <a:ln xmlns:a="http://schemas.openxmlformats.org/drawingml/2006/main" w="9525">
            <a:solidFill>
              <a:srgbClr val="9FB7B2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83C37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>
                <a:solidFill>
                  <a:srgbClr val="183C37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>
                <a:solidFill>
                  <a:srgbClr val="183C37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>
                <a:solidFill>
                  <a:srgbClr val="183C37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>
                <a:solidFill>
                  <a:srgbClr val="183C37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>
                <a:solidFill>
                  <a:srgbClr val="183C37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>
                <a:solidFill>
                  <a:srgbClr val="183C37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>
                <a:solidFill>
                  <a:srgbClr val="183C37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>
                <a:solidFill>
                  <a:srgbClr val="183C37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>
                <a:solidFill>
                  <a:srgbClr val="183C3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83C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>
                <a:solidFill>
                  <a:srgbClr val="183C37"/>
                </a:solidFill>
                <a:latin typeface="Noto Sans CJK SC"/>
                <a:ea typeface="Noto Sans CJK SC"/>
                <a:cs typeface="Noto Sans CJK SC"/>
              </a:rPr>
              <a:t>视觉感知层</a:t>
            </a:r>
          </a:p>
          <a:p xmlns:a="http://schemas.openxmlformats.org/drawingml/2006/main">
            <a:pPr algn="ctr">
              <a:defRPr sz="1875">
                <a:solidFill>
                  <a:srgbClr val="183C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>
                <a:solidFill>
                  <a:srgbClr val="183C37"/>
                </a:solidFill>
                <a:latin typeface="Noto Sans CJK SC"/>
                <a:ea typeface="Noto Sans CJK SC"/>
                <a:cs typeface="Noto Sans CJK SC"/>
              </a:rPr>
              <a:t>腕部左右 RGB</a:t>
            </a:r>
          </a:p>
          <a:p xmlns:a="http://schemas.openxmlformats.org/drawingml/2006/main">
            <a:pPr algn="ctr">
              <a:defRPr sz="1875">
                <a:solidFill>
                  <a:srgbClr val="183C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>
                <a:solidFill>
                  <a:srgbClr val="183C37"/>
                </a:solidFill>
                <a:latin typeface="Noto Sans CJK SC"/>
                <a:ea typeface="Noto Sans CJK SC"/>
                <a:cs typeface="Noto Sans CJK SC"/>
              </a:rPr>
              <a:t>双目深度与三维点云</a:t>
            </a:r>
          </a:p>
          <a:p xmlns:a="http://schemas.openxmlformats.org/drawingml/2006/main">
            <a:pPr algn="ctr">
              <a:defRPr sz="1875">
                <a:solidFill>
                  <a:srgbClr val="183C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>
                <a:solidFill>
                  <a:srgbClr val="183C37"/>
                </a:solidFill>
                <a:latin typeface="Noto Sans CJK SC"/>
                <a:ea typeface="Noto Sans CJK SC"/>
                <a:cs typeface="Noto Sans CJK SC"/>
              </a:rPr>
              <a:t>阈值分割与连通域</a:t>
            </a:r>
          </a:p>
        </p:txBody>
      </p:sp>
      <p:sp>
        <p:nvSpPr>
          <p:cNvPr id="4" name="planner">
            <a:extLst xmlns:a="http://schemas.openxmlformats.org/drawingml/2006/main">
              <a:ext uri="{FF2B5EF4-FFF2-40B4-BE49-F238E27FC236}">
                <a16:creationId xmlns:a16="http://schemas.microsoft.com/office/drawing/2014/main" id="{2D420A4F-0229-4513-B57E-5F2FFC62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24125"/>
            <a:ext cx="3048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2"/>
          </a:solidFill>
          <a:ln xmlns:a="http://schemas.openxmlformats.org/drawingml/2006/main" w="9525">
            <a:solidFill>
              <a:srgbClr val="9FB7B2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83C37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>
                <a:solidFill>
                  <a:srgbClr val="183C37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>
                <a:solidFill>
                  <a:srgbClr val="183C37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>
                <a:solidFill>
                  <a:srgbClr val="183C37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>
                <a:solidFill>
                  <a:srgbClr val="183C37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>
                <a:solidFill>
                  <a:srgbClr val="183C37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>
                <a:solidFill>
                  <a:srgbClr val="183C37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>
                <a:solidFill>
                  <a:srgbClr val="183C37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>
                <a:solidFill>
                  <a:srgbClr val="183C37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>
                <a:solidFill>
                  <a:srgbClr val="183C3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83C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>
                <a:solidFill>
                  <a:srgbClr val="183C37"/>
                </a:solidFill>
                <a:latin typeface="Noto Sans CJK SC"/>
                <a:ea typeface="Noto Sans CJK SC"/>
                <a:cs typeface="Noto Sans CJK SC"/>
              </a:rPr>
              <a:t>决策规划层</a:t>
            </a:r>
          </a:p>
          <a:p xmlns:a="http://schemas.openxmlformats.org/drawingml/2006/main">
            <a:pPr algn="ctr">
              <a:defRPr sz="1875">
                <a:solidFill>
                  <a:srgbClr val="183C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>
                <a:solidFill>
                  <a:srgbClr val="183C37"/>
                </a:solidFill>
                <a:latin typeface="Noto Sans CJK SC"/>
                <a:ea typeface="Noto Sans CJK SC"/>
                <a:cs typeface="Noto Sans CJK SC"/>
              </a:rPr>
              <a:t>坐标映射与抓取规划</a:t>
            </a:r>
          </a:p>
          <a:p xmlns:a="http://schemas.openxmlformats.org/drawingml/2006/main">
            <a:pPr algn="ctr">
              <a:defRPr sz="1875">
                <a:solidFill>
                  <a:srgbClr val="183C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>
                <a:solidFill>
                  <a:srgbClr val="183C37"/>
                </a:solidFill>
                <a:latin typeface="Noto Sans CJK SC"/>
                <a:ea typeface="Noto Sans CJK SC"/>
                <a:cs typeface="Noto Sans CJK SC"/>
              </a:rPr>
              <a:t>动作状态机</a:t>
            </a:r>
          </a:p>
          <a:p xmlns:a="http://schemas.openxmlformats.org/drawingml/2006/main">
            <a:pPr algn="ctr">
              <a:defRPr sz="1875">
                <a:solidFill>
                  <a:srgbClr val="183C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>
                <a:solidFill>
                  <a:srgbClr val="183C37"/>
                </a:solidFill>
                <a:latin typeface="Noto Sans CJK SC"/>
                <a:ea typeface="Noto Sans CJK SC"/>
                <a:cs typeface="Noto Sans CJK SC"/>
              </a:rPr>
              <a:t>目标重量与投料决策</a:t>
            </a:r>
          </a:p>
        </p:txBody>
      </p:sp>
      <p:sp>
        <p:nvSpPr>
          <p:cNvPr id="5" name="execution">
            <a:extLst xmlns:a="http://schemas.openxmlformats.org/drawingml/2006/main">
              <a:ext uri="{FF2B5EF4-FFF2-40B4-BE49-F238E27FC236}">
                <a16:creationId xmlns:a16="http://schemas.microsoft.com/office/drawing/2014/main" id="{767B8308-0E96-47EE-8CA7-620CEFE2C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524125"/>
            <a:ext cx="3048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2"/>
          </a:solidFill>
          <a:ln xmlns:a="http://schemas.openxmlformats.org/drawingml/2006/main" w="9525">
            <a:solidFill>
              <a:srgbClr val="9FB7B2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83C37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>
                <a:solidFill>
                  <a:srgbClr val="183C37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>
                <a:solidFill>
                  <a:srgbClr val="183C37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>
                <a:solidFill>
                  <a:srgbClr val="183C37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>
                <a:solidFill>
                  <a:srgbClr val="183C37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>
                <a:solidFill>
                  <a:srgbClr val="183C37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>
                <a:solidFill>
                  <a:srgbClr val="183C37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>
                <a:solidFill>
                  <a:srgbClr val="183C37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>
                <a:solidFill>
                  <a:srgbClr val="183C37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>
                <a:solidFill>
                  <a:srgbClr val="183C3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83C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>
                <a:solidFill>
                  <a:srgbClr val="183C37"/>
                </a:solidFill>
                <a:latin typeface="Noto Sans CJK SC"/>
                <a:ea typeface="Noto Sans CJK SC"/>
                <a:cs typeface="Noto Sans CJK SC"/>
              </a:rPr>
              <a:t>执行层</a:t>
            </a:r>
          </a:p>
          <a:p xmlns:a="http://schemas.openxmlformats.org/drawingml/2006/main">
            <a:pPr algn="ctr">
              <a:defRPr sz="1875">
                <a:solidFill>
                  <a:srgbClr val="183C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>
                <a:solidFill>
                  <a:srgbClr val="183C37"/>
                </a:solidFill>
                <a:latin typeface="Noto Sans CJK SC"/>
                <a:ea typeface="Noto Sans CJK SC"/>
                <a:cs typeface="Noto Sans CJK SC"/>
              </a:rPr>
              <a:t>Panda 机械臂</a:t>
            </a:r>
          </a:p>
          <a:p xmlns:a="http://schemas.openxmlformats.org/drawingml/2006/main">
            <a:pPr algn="ctr">
              <a:defRPr sz="1875">
                <a:solidFill>
                  <a:srgbClr val="183C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>
                <a:solidFill>
                  <a:srgbClr val="183C37"/>
                </a:solidFill>
                <a:latin typeface="Noto Sans CJK SC"/>
                <a:ea typeface="Noto Sans CJK SC"/>
                <a:cs typeface="Noto Sans CJK SC"/>
              </a:rPr>
              <a:t>双指夹爪</a:t>
            </a:r>
          </a:p>
          <a:p xmlns:a="http://schemas.openxmlformats.org/drawingml/2006/main">
            <a:pPr algn="ctr">
              <a:defRPr sz="1875">
                <a:solidFill>
                  <a:srgbClr val="183C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>
                <a:solidFill>
                  <a:srgbClr val="183C37"/>
                </a:solidFill>
                <a:latin typeface="Noto Sans CJK SC"/>
                <a:ea typeface="Noto Sans CJK SC"/>
                <a:cs typeface="Noto Sans CJK SC"/>
              </a:rPr>
              <a:t>烟叶堆与接料盒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3775D9-A059-434A-BA88-861DD4F91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238375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>
                <a:solidFill>
                  <a:srgbClr val="263C38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00">
                <a:solidFill>
                  <a:srgbClr val="263C38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00">
                <a:solidFill>
                  <a:srgbClr val="263C38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00">
                <a:solidFill>
                  <a:srgbClr val="263C38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00">
                <a:solidFill>
                  <a:srgbClr val="263C38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00">
                <a:solidFill>
                  <a:srgbClr val="263C38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00">
                <a:solidFill>
                  <a:srgbClr val="263C38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00">
                <a:solidFill>
                  <a:srgbClr val="263C38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00">
                <a:solidFill>
                  <a:srgbClr val="263C38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00">
                <a:solidFill>
                  <a:srgbClr val="263C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ctr">
              <a:defRPr sz="1200">
                <a:solidFill>
                  <a:srgbClr val="263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263C38"/>
                </a:solidFill>
                <a:latin typeface="Noto Sans CJK SC"/>
                <a:ea typeface="Noto Sans CJK SC"/>
                <a:cs typeface="Noto Sans CJK SC"/>
              </a:rPr>
              <a:t>目标区域 / 三维位置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436E6B-6DAB-48F5-B1B7-4DAE11AD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383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>
                <a:solidFill>
                  <a:srgbClr val="263C38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00">
                <a:solidFill>
                  <a:srgbClr val="263C38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00">
                <a:solidFill>
                  <a:srgbClr val="263C38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00">
                <a:solidFill>
                  <a:srgbClr val="263C38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00">
                <a:solidFill>
                  <a:srgbClr val="263C38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00">
                <a:solidFill>
                  <a:srgbClr val="263C38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00">
                <a:solidFill>
                  <a:srgbClr val="263C38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00">
                <a:solidFill>
                  <a:srgbClr val="263C38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00">
                <a:solidFill>
                  <a:srgbClr val="263C38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00">
                <a:solidFill>
                  <a:srgbClr val="263C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ctr">
              <a:defRPr sz="1200">
                <a:solidFill>
                  <a:srgbClr val="263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263C38"/>
                </a:solidFill>
                <a:latin typeface="Noto Sans CJK SC"/>
                <a:ea typeface="Noto Sans CJK SC"/>
                <a:cs typeface="Noto Sans CJK SC"/>
              </a:rPr>
              <a:t>轨迹 / 夹爪命令</a:t>
            </a:r>
          </a:p>
        </p:txBody>
      </p:sp>
      <p:sp>
        <p:nvSpPr>
          <p:cNvPr id="11" name="feedback">
            <a:extLst xmlns:a="http://schemas.openxmlformats.org/drawingml/2006/main">
              <a:ext uri="{FF2B5EF4-FFF2-40B4-BE49-F238E27FC236}">
                <a16:creationId xmlns:a16="http://schemas.microsoft.com/office/drawing/2014/main" id="{6AED2756-5542-44C2-9693-5E879DFA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857750"/>
            <a:ext cx="7048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4"/>
          </a:solidFill>
          <a:ln xmlns:a="http://schemas.openxmlformats.org/drawingml/2006/main" w="9525">
            <a:solidFill>
              <a:srgbClr val="9FB7B2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83C37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>
                <a:solidFill>
                  <a:srgbClr val="183C37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>
                <a:solidFill>
                  <a:srgbClr val="183C37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>
                <a:solidFill>
                  <a:srgbClr val="183C37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>
                <a:solidFill>
                  <a:srgbClr val="183C37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>
                <a:solidFill>
                  <a:srgbClr val="183C37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>
                <a:solidFill>
                  <a:srgbClr val="183C37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>
                <a:solidFill>
                  <a:srgbClr val="183C37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>
                <a:solidFill>
                  <a:srgbClr val="183C37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>
                <a:solidFill>
                  <a:srgbClr val="183C3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83C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>
                <a:solidFill>
                  <a:srgbClr val="183C37"/>
                </a:solidFill>
                <a:latin typeface="Noto Sans CJK SC"/>
                <a:ea typeface="Noto Sans CJK SC"/>
                <a:cs typeface="Noto Sans CJK SC"/>
              </a:rPr>
              <a:t>多传感反馈</a:t>
            </a:r>
          </a:p>
          <a:p xmlns:a="http://schemas.openxmlformats.org/drawingml/2006/main">
            <a:pPr algn="ctr">
              <a:defRPr sz="1875">
                <a:solidFill>
                  <a:srgbClr val="183C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>
                <a:solidFill>
                  <a:srgbClr val="183C37"/>
                </a:solidFill>
                <a:latin typeface="Noto Sans CJK SC"/>
                <a:ea typeface="Noto Sans CJK SC"/>
                <a:cs typeface="Noto Sans CJK SC"/>
              </a:rPr>
              <a:t>腕部力与载荷 / 夹指接触 / 盒下称重 / 关节状态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F5E658-1ECF-48CA-ACA6-14FD9E03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243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>
                <a:solidFill>
                  <a:srgbClr val="263C38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425">
                <a:solidFill>
                  <a:srgbClr val="263C38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425">
                <a:solidFill>
                  <a:srgbClr val="263C38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425">
                <a:solidFill>
                  <a:srgbClr val="263C38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425">
                <a:solidFill>
                  <a:srgbClr val="263C38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425">
                <a:solidFill>
                  <a:srgbClr val="263C38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425">
                <a:solidFill>
                  <a:srgbClr val="263C38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425">
                <a:solidFill>
                  <a:srgbClr val="263C38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425">
                <a:solidFill>
                  <a:srgbClr val="263C38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425">
                <a:solidFill>
                  <a:srgbClr val="263C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ctr">
              <a:defRPr sz="1425">
                <a:solidFill>
                  <a:srgbClr val="263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>
                <a:solidFill>
                  <a:srgbClr val="263C38"/>
                </a:solidFill>
                <a:latin typeface="Noto Sans CJK SC"/>
                <a:ea typeface="Noto Sans CJK SC"/>
                <a:cs typeface="Noto Sans CJK SC"/>
              </a:rPr>
              <a:t>质量与接触状态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8E8806-B1E8-4787-8F8B-6CCB2186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6219825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>
                <a:solidFill>
                  <a:srgbClr val="263C38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00">
                <a:solidFill>
                  <a:srgbClr val="263C38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00">
                <a:solidFill>
                  <a:srgbClr val="263C38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00">
                <a:solidFill>
                  <a:srgbClr val="263C38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00">
                <a:solidFill>
                  <a:srgbClr val="263C38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00">
                <a:solidFill>
                  <a:srgbClr val="263C38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00">
                <a:solidFill>
                  <a:srgbClr val="263C38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00">
                <a:solidFill>
                  <a:srgbClr val="263C38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00">
                <a:solidFill>
                  <a:srgbClr val="263C38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00">
                <a:solidFill>
                  <a:srgbClr val="263C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63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>
                <a:solidFill>
                  <a:srgbClr val="263C38"/>
                </a:solidFill>
                <a:latin typeface="Noto Sans CJK SC"/>
                <a:ea typeface="Noto Sans CJK SC"/>
                <a:cs typeface="Noto Sans CJK SC"/>
              </a:rPr>
              <a:t>实线：运行通道     虚线：视觉抓取规划接口</a:t>
            </a:r>
          </a:p>
        </p:txBody>
      </p:sp>
    </p:spTree>
    <p:extLst>
      <p:ext uri="{BB962C8B-B14F-4D97-AF65-F5344CB8AC3E}">
        <p14:creationId xmlns:p14="http://schemas.microsoft.com/office/powerpoint/2010/main" val="21305695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2026-10-28T05:18:05.2470000Z</dcterms:created>
  <dcterms:modified xsi:type="dcterms:W3CDTF">2026-10-28T05:18:05.2470000Z</dcterms:modified>
</coreProperties>
</file>